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822960"/>
          <a:lstStyle/>
          <a:p>
            <a:pPr algn="ctr">
              <a:defRPr sz="3200" b="1">
                <a:solidFill>
                  <a:srgbClr val="FF4757"/>
                </a:solidFill>
                <a:latin typeface="Malgun Gothic"/>
              </a:defRPr>
            </a:pPr>
            <a:r>
              <a:t>🚀 이 웹앱이 에이닷(A.dot) 영어학원의 성장에 왜 필수적인가?</a:t>
            </a:r>
          </a:p>
          <a:p>
            <a:pPr>
              <a:spcBef>
                <a:spcPts val="2000"/>
              </a:spcBef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데이터 기반 실패 없는 출점 | 블루오션 시장 독점 | 강사 구인 리스크 제로화</a:t>
            </a:r>
          </a:p>
          <a:p>
            <a:pPr>
              <a:spcBef>
                <a:spcPts val="4500"/>
              </a:spcBef>
              <a:defRPr sz="1400">
                <a:solidFill>
                  <a:srgbClr val="94A3B8"/>
                </a:solidFill>
                <a:latin typeface="Malgun Gothic"/>
              </a:defRPr>
            </a:pPr>
            <a:r>
              <a:t>전국 네트워크 3km 반경 빅데이터 통합 시뮬레이션 시스템 보고서 | 2026.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4757"/>
                </a:solidFill>
                <a:latin typeface="Malgun Gothic"/>
              </a:defRPr>
            </a:pPr>
            <a:r>
              <a:t>에이닷(A.DOT) 영어학원 지속 성장 전략</a:t>
            </a:r>
          </a:p>
          <a:p>
            <a:pPr>
              <a:defRPr sz="2500" b="1">
                <a:solidFill>
                  <a:srgbClr val="FFFFFF"/>
                </a:solidFill>
                <a:latin typeface="Malgun Gothic"/>
              </a:defRPr>
            </a:pPr>
            <a:r>
              <a:t>1. 에이닷 영어학원 성장을 이끄는 웹앱의 3대 핵심 가치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FF4757"/>
                </a:solidFill>
                <a:latin typeface="Malgun Gothic"/>
              </a:defRPr>
            </a:pPr>
            <a:r>
              <a:t>🎯 1. 실패 없는 출점 (Zero Risk)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Malgun Gothic"/>
              </a:defRPr>
            </a:pPr>
            <a:r>
              <a:t>• 기존의 '감'이나 부동산 의존 출점 탈피</a:t>
            </a:r>
            <a:br/>
            <a:r>
              <a:t>• 3개년(2024~2026) 학생수 추이 기반</a:t>
            </a:r>
            <a:br/>
            <a:r>
              <a:t>• 1.5만 세대+ 대단지 수급으로 100% 성공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🔥 2. 독점적 블루오션 선점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Malgun Gothic"/>
              </a:defRPr>
            </a:pPr>
            <a:r>
              <a:t>• 기존 지점 3km 이격 ➔ 자기잠식 0%</a:t>
            </a:r>
            <a:br/>
            <a:r>
              <a:t>• 경쟁 학원 50개 미만 지역 자동 발굴</a:t>
            </a:r>
            <a:br/>
            <a:r>
              <a:t>• 진출 즉시 신규 수강생 빠른 흡수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6366F1"/>
                </a:solidFill>
                <a:latin typeface="Malgun Gothic"/>
              </a:defRPr>
            </a:pPr>
            <a:r>
              <a:t>🏛️ 3. 강사 구인 리스크 제로화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Malgun Gothic"/>
              </a:defRPr>
            </a:pPr>
            <a:r>
              <a:t>• 학원 성장의 병목인 '우수 강사 구인' 해결</a:t>
            </a:r>
            <a:br/>
            <a:r>
              <a:t>• 4년제 대학교 인접 입지 정밀 분석</a:t>
            </a:r>
            <a:br/>
            <a:r>
              <a:t>• 명문대 대학생/대학원생 강사 인력 상시 수급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4757"/>
                </a:solidFill>
                <a:latin typeface="Malgun Gothic"/>
              </a:defRPr>
            </a:pPr>
            <a:r>
              <a:t>에이닷(A.DOT) 영어학원 지속 성장 전략</a:t>
            </a:r>
          </a:p>
          <a:p>
            <a:pPr>
              <a:defRPr sz="2500" b="1">
                <a:solidFill>
                  <a:srgbClr val="FFFFFF"/>
                </a:solidFill>
                <a:latin typeface="Malgun Gothic"/>
              </a:defRPr>
            </a:pPr>
            <a:r>
              <a:t>2. 성장을 가속화하는 🎯 RDB 추천입지 독점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FF4757"/>
                </a:solidFill>
                <a:latin typeface="Malgun Gothic"/>
              </a:defRPr>
            </a:pPr>
            <a:r>
              <a:t>🔥 1. 초희소형 (블루오션)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Malgun Gothic"/>
              </a:defRPr>
            </a:pPr>
            <a:r>
              <a:t>• 학원수 &lt; 50개 / 아파트 &gt; 1.5만 세대</a:t>
            </a:r>
            <a:br/>
            <a:r>
              <a:t>• 잠정고객 &gt; 300명 (중·고등 6,000명+)</a:t>
            </a:r>
            <a:br/>
            <a:r>
              <a:t>👉 경쟁 학원이 거의 없어 독점적 고수익 창출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⚡ 2. 세대밀집 (안정적 성장)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Malgun Gothic"/>
              </a:defRPr>
            </a:pPr>
            <a:r>
              <a:t>• 아파트 &gt; 5.0만 세대 초밀집 타운</a:t>
            </a:r>
            <a:br/>
            <a:r>
              <a:t>• 학원수 &lt; 100개 / 잠정고객 &gt; 400명</a:t>
            </a:r>
            <a:br/>
            <a:r>
              <a:t>👉 풍부한 학령인구로 장기적 수강생 지속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6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FF6B81"/>
                </a:solidFill>
                <a:latin typeface="Malgun Gothic"/>
              </a:defRPr>
            </a:pPr>
            <a:r>
              <a:t>🖤 3. 메가타겟 (플래그십)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Malgun Gothic"/>
              </a:defRPr>
            </a:pPr>
            <a:r>
              <a:t>• 잠정고객 &gt; 700명 (중·고등 1.4만명+)</a:t>
            </a:r>
            <a:br/>
            <a:r>
              <a:t>• 압도적 배후 인구의 초대형 지역</a:t>
            </a:r>
            <a:br/>
            <a:r>
              <a:t>👉 검빨(Black+Red) 테마 대형 플래그십 거점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4757"/>
                </a:solidFill>
                <a:latin typeface="Malgun Gothic"/>
              </a:defRPr>
            </a:pPr>
            <a:r>
              <a:t>에이닷(A.DOT) 영어학원 지속 성장 전략</a:t>
            </a:r>
          </a:p>
          <a:p>
            <a:pPr>
              <a:defRPr sz="2500" b="1">
                <a:solidFill>
                  <a:srgbClr val="FFFFFF"/>
                </a:solidFill>
                <a:latin typeface="Malgun Gothic"/>
              </a:defRPr>
            </a:pPr>
            <a:r>
              <a:t>3. 학원 사업 성장의 최대 병목: '강사 구인 리스크' 완벽 해결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6366F1"/>
                </a:solidFill>
                <a:latin typeface="Malgun Gothic"/>
              </a:defRPr>
            </a:pPr>
            <a:r>
              <a:t>🏛️ 4년제 대학교 입지 분석의 논리</a:t>
            </a:r>
          </a:p>
          <a:p>
            <a:pPr>
              <a:spcBef>
                <a:spcPts val="1400"/>
              </a:spcBef>
              <a:defRPr sz="1350">
                <a:solidFill>
                  <a:srgbClr val="FFFFFF"/>
                </a:solidFill>
                <a:latin typeface="Malgun Gothic"/>
              </a:defRPr>
            </a:pPr>
            <a:r>
              <a:t>• 에이닷 성장의 핵심은 '우수한 강사진 수급'</a:t>
            </a:r>
            <a:br/>
            <a:br/>
            <a:r>
              <a:t>• 주변 4년제 대학교 존재의 가치:</a:t>
            </a:r>
            <a:br/>
            <a:r>
              <a:t>  - 주요 대학생 및 대학원생 파트타임/전임 강사 인력풀이 항상 대기 중인 입지 확보.</a:t>
            </a:r>
            <a:br/>
            <a:br/>
            <a:r>
              <a:t>  - 학원 개원 및 세 확장 시 강사 수급 난항으로 인한 개원 지연 및 운영 차질 방지.</a:t>
            </a:r>
            <a:br/>
            <a:br/>
            <a:r>
              <a:t>  - 높은 수준의 지적 역량을 갖춘 강사 채용으로 학생/학부모 만족도 극대화.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2ECC71"/>
                </a:solidFill>
                <a:latin typeface="Malgun Gothic"/>
              </a:defRPr>
            </a:pPr>
            <a:r>
              <a:t>📈 지점 성장에 미치는 실질적 비즈니스 효과</a:t>
            </a:r>
          </a:p>
          <a:p>
            <a:pPr>
              <a:spcBef>
                <a:spcPts val="1400"/>
              </a:spcBef>
              <a:defRPr sz="1350">
                <a:solidFill>
                  <a:srgbClr val="FFFFFF"/>
                </a:solidFill>
                <a:latin typeface="Malgun Gothic"/>
              </a:defRPr>
            </a:pPr>
            <a:r>
              <a:t>1️⃣ 강사 구인 비용 &amp; 시간 절감 (Recruitment Cost 🔻):</a:t>
            </a:r>
            <a:br/>
            <a:r>
              <a:t>    대학 인접 입지로 구인 공고 시 빠르게 인재 채용 가능.</a:t>
            </a:r>
            <a:br/>
            <a:br/>
            <a:r>
              <a:t>2️⃣ 강사 퇴사 시 원활한 대타/신규 강사 교체:</a:t>
            </a:r>
            <a:br/>
            <a:r>
              <a:t>    인근 인력풀 확보로 수업 연속성 유지 및 이탈 방지.</a:t>
            </a:r>
            <a:br/>
            <a:br/>
            <a:r>
              <a:t>3️⃣ 에이닷 브랜드의 지속적 세 확장 가속화:</a:t>
            </a:r>
            <a:br/>
            <a:r>
              <a:t>    강사 수급 걱정 없는 연쇄 출점으로 전국 네트워크 완성.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4757"/>
                </a:solidFill>
                <a:latin typeface="Malgun Gothic"/>
              </a:defRPr>
            </a:pPr>
            <a:r>
              <a:t>에이닷(A.DOT) 영어학원 지속 성장 전략</a:t>
            </a:r>
          </a:p>
          <a:p>
            <a:pPr>
              <a:defRPr sz="2500" b="1">
                <a:solidFill>
                  <a:srgbClr val="FFFFFF"/>
                </a:solidFill>
                <a:latin typeface="Malgun Gothic"/>
              </a:defRPr>
            </a:pPr>
            <a:r>
              <a:t>4. 비즈니스 임팩트 &amp; 경영진 최종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F4757"/>
                </a:solidFill>
                <a:latin typeface="Malgun Gothic"/>
              </a:defRPr>
            </a:pPr>
            <a:r>
              <a:t>💡 본 웹앱은 에이닷 영어학원의 지속 가능한 성장을 위한 필수 데이터 엔진입니다.</a:t>
            </a:r>
          </a:p>
          <a:p>
            <a:pPr>
              <a:spcBef>
                <a:spcPts val="2000"/>
              </a:spcBef>
              <a:defRPr sz="1500">
                <a:solidFill>
                  <a:srgbClr val="FFFFFF"/>
                </a:solidFill>
                <a:latin typeface="Malgun Gothic"/>
              </a:defRPr>
            </a:pPr>
            <a:r>
              <a:t>• 수개월 걸리던 부동산 조사 및 입지 탐방을 '3초 만에 전국 210개 최적지 정밀 분석'으로 혁신.</a:t>
            </a:r>
            <a:br/>
            <a:br/>
            <a:r>
              <a:t>• 기존 지점 3km 제외로 자기잠식을 막고, 🔥 1. 초희소형 입지 우선 진출로 시장 1위 빠른 독점.</a:t>
            </a:r>
            <a:br/>
            <a:br/>
            <a:r>
              <a:t>• 🏛️ 4년제 대학교 인근 입지 검증을 병행하여 학원 사업 성장의 가장 큰 걸림돌인 '강사 구인 리스크' 원천 차단.</a:t>
            </a:r>
            <a:br/>
            <a:br/>
            <a:r>
              <a:t>➔ 결론: 본 웹앱 시스템을 에이닷의 출점 의사결정 표준(Standard)으로 도입하여 실패 없는 기하급수적 성장을 견인할 것을 제언합니다.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