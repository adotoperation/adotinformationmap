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731520"/>
          <a:lstStyle/>
          <a:p>
            <a:pPr algn="ctr">
              <a:defRPr sz="3000" b="1">
                <a:solidFill>
                  <a:srgbClr val="FF4757"/>
                </a:solidFill>
                <a:latin typeface="Malgun Gothic"/>
              </a:defRPr>
            </a:pPr>
            <a:r>
              <a:t>🎯 추천입지 유형별 맞춤 전략 &amp; 최적 입지 산출 모델</a:t>
            </a:r>
          </a:p>
          <a:p>
            <a:pPr>
              <a:spcBef>
                <a:spcPts val="1800"/>
              </a:spcBef>
              <a:defRPr sz="1800" b="1">
                <a:solidFill>
                  <a:srgbClr val="FFFFFF"/>
                </a:solidFill>
                <a:latin typeface="Malgun Gothic"/>
              </a:defRPr>
            </a:pPr>
            <a:r>
              <a:t>콘텐츠 + 우수 강사진 + 상권 분석 웹앱 (학원수 추이 / 아파트 매매가 구매력 / 대학 입결 데이터)</a:t>
            </a:r>
          </a:p>
          <a:p>
            <a:pPr>
              <a:spcBef>
                <a:spcPts val="4000"/>
              </a:spcBef>
              <a:defRPr sz="1350">
                <a:solidFill>
                  <a:srgbClr val="94A3B8"/>
                </a:solidFill>
                <a:latin typeface="Malgun Gothic"/>
              </a:defRPr>
            </a:pPr>
            <a:r>
              <a:t>에이닷 영어학원 지속 성장 &amp; 신규 출점 시뮬레이션 시스템 보고서 | 2026.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1. 학원 성장의 3대 필수 조건 (3 Pillars of Growth)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59E0B"/>
                </a:solidFill>
                <a:latin typeface="Malgun Gothic"/>
              </a:defRPr>
            </a:pPr>
            <a:r>
              <a:t>📚 1. 콘텐츠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커리큘럼 및 교재</a:t>
            </a:r>
            <a:br/>
            <a:r>
              <a:t>• 자체 학습 시스템</a:t>
            </a:r>
            <a:br/>
            <a:r>
              <a:t>• 1:1 맞춤형 코칭 프로그램</a:t>
            </a:r>
            <a:br/>
            <a:br/>
            <a:r>
              <a:t>👉 에이닷 독자 브랜드 가치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6366F1"/>
                </a:solidFill>
                <a:latin typeface="Malgun Gothic"/>
              </a:defRPr>
            </a:pPr>
            <a:r>
              <a:t>🎓 2. 우수 강사진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학생 지도 및 강의력</a:t>
            </a:r>
            <a:br/>
            <a:r>
              <a:t>• 동기부여 및 학습 관리</a:t>
            </a:r>
            <a:br/>
            <a:r>
              <a:t>• 4년제 대학 인재풀 연동</a:t>
            </a:r>
            <a:br/>
            <a:br/>
            <a:r>
              <a:t>👉 성과 창출의 핵심 동력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F4757"/>
                </a:solidFill>
                <a:latin typeface="Malgun Gothic"/>
              </a:defRPr>
            </a:pPr>
            <a:r>
              <a:t>🗺️ 3. 상권 분석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[핵심! 이 웹앱이 필요한 이유]</a:t>
            </a:r>
            <a:br/>
            <a:r>
              <a:t>• 수강생/잠재고객/학원수 정밀 분석</a:t>
            </a:r>
            <a:br/>
            <a:r>
              <a:t>• 서울대 TOP30 및 학구열 판정</a:t>
            </a:r>
            <a:br/>
            <a:br/>
            <a:r>
              <a:t>👉 실패 없는 출점의 완성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2. 🎯 추천입지 3개 유형 분류 &amp; 맞춤형 전략 진출 (한눈에 파악)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750" b="1">
                <a:solidFill>
                  <a:srgbClr val="FF4757"/>
                </a:solidFill>
                <a:latin typeface="Malgun Gothic"/>
              </a:defRPr>
            </a:pPr>
            <a:r>
              <a:t>🔥 1. 초희소형 (블루오션 독점)</a:t>
            </a:r>
          </a:p>
          <a:p>
            <a:pPr>
              <a:spcBef>
                <a:spcPts val="16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학원수 &lt; 50개 / 아파트 &gt; 1.5만 세대</a:t>
            </a:r>
            <a:br/>
            <a:r>
              <a:t>• 잠정고객 &gt; 300명 (중·고등 6,000명+)</a:t>
            </a:r>
            <a:br/>
            <a:r>
              <a:t>👉 전략: 경쟁 부재 지역 우선 진출 ➔ 빠르게 시장 점유율 1위 독점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750" b="1">
                <a:solidFill>
                  <a:srgbClr val="F59E0B"/>
                </a:solidFill>
                <a:latin typeface="Malgun Gothic"/>
              </a:defRPr>
            </a:pPr>
            <a:r>
              <a:t>⚡ 2. 세대밀집 (안정적 거점)</a:t>
            </a:r>
          </a:p>
          <a:p>
            <a:pPr>
              <a:spcBef>
                <a:spcPts val="16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아파트 &gt; 5.0만 세대 초밀집 타운</a:t>
            </a:r>
            <a:br/>
            <a:r>
              <a:t>• 학원수 &lt; 100개 / 잠정고객 &gt; 400명</a:t>
            </a:r>
            <a:br/>
            <a:r>
              <a:t>👉 전략: 풍부한 배후 세대 바탕 ➔ 장기 안정적 고수익 거점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6B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750" b="1">
                <a:solidFill>
                  <a:srgbClr val="FF6B81"/>
                </a:solidFill>
                <a:latin typeface="Malgun Gothic"/>
              </a:defRPr>
            </a:pPr>
            <a:r>
              <a:t>🖤 3. 메가타겟 (플래그십 거점)</a:t>
            </a:r>
          </a:p>
          <a:p>
            <a:pPr>
              <a:spcBef>
                <a:spcPts val="16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잠정고객 &gt; 700명 (중·고등 1.4만명+)</a:t>
            </a:r>
            <a:br/>
            <a:r>
              <a:t>• 검빨(Black+Red) 전용 글로우 테마</a:t>
            </a:r>
            <a:br/>
            <a:r>
              <a:t>👉 전략: 초대형 학령 인구 상권 ➔ 브랜드 대형 플래그십 출점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3. ⭐ 서울대 TOP30 &amp; 🏛️ 4년제 대학 (학구열 + 강사 수급)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900" b="1">
                <a:solidFill>
                  <a:srgbClr val="F59E0B"/>
                </a:solidFill>
                <a:latin typeface="Malgun Gothic"/>
              </a:defRPr>
            </a:pPr>
            <a:r>
              <a:t>⭐ 서울대 입결 TOP 30 시각화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  <a:latin typeface="Malgun Gothic"/>
              </a:defRPr>
            </a:pPr>
            <a:r>
              <a:t>• 2026년 서울대 합격자 상위 30개 고등학교 마커 배치</a:t>
            </a:r>
            <a:br/>
            <a:br/>
            <a:r>
              <a:t>• 직관적 학구열 파악:</a:t>
            </a:r>
            <a:br/>
            <a:r>
              <a:t>  - 지도에서 TOP 30 고교 위치를 한눈에 파악하여 해당 상권의 학구열 수준 판정.</a:t>
            </a:r>
            <a:br/>
            <a:br/>
            <a:r>
              <a:t>  - 학구열이 높은 상권일수록 에이닷 1:1 고난도 코칭 수요가 폭발하며 수강생 LTV 극대화.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900" b="1">
                <a:solidFill>
                  <a:srgbClr val="6366F1"/>
                </a:solidFill>
                <a:latin typeface="Malgun Gothic"/>
              </a:defRPr>
            </a:pPr>
            <a:r>
              <a:t>🏛️ 4년제 대학교 2대 핵심 가치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  <a:latin typeface="Malgun Gothic"/>
              </a:defRPr>
            </a:pPr>
            <a:r>
              <a:t>1️⃣ 지역 전체의 지적 분위기 &amp; 학구열 측정 지표</a:t>
            </a:r>
            <a:br/>
            <a:br/>
            <a:r>
              <a:t>2️⃣ 명문 대학생/대학원생 강사 수급 용이성:</a:t>
            </a:r>
            <a:br/>
            <a:r>
              <a:t>    - 가까운 인근에서 우수 강사를 빠르게 구인.</a:t>
            </a:r>
            <a:br/>
            <a:r>
              <a:t>    - 개원 초기 '강사 구인 리스크'를 제로화하여 지점 운영의 안정성 및 매출 성장 보장.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4. 🚀 미래 고도화 로드맵: 에이닷 최적 입지조건 자동 산출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F4757"/>
                </a:solidFill>
                <a:latin typeface="Malgun Gothic"/>
              </a:defRPr>
            </a:pPr>
            <a:r>
              <a:t>📈 3개년 학원수 추이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학원 시장의 성숙도 및 포화 모멘텀 분석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59E0B"/>
                </a:solidFill>
                <a:latin typeface="Malgun Gothic"/>
              </a:defRPr>
            </a:pPr>
            <a:r>
              <a:t>🏢 아파트 매매가 데이터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지역 가구 소득 수준 및 교육비 구매력(Purchasing Power) 파악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6366F1"/>
                </a:solidFill>
                <a:latin typeface="Malgun Gothic"/>
              </a:defRPr>
            </a:pPr>
            <a:r>
              <a:t>🎓 4년제 대학 수시/수능 입결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대학 입결 수준 기반 학구열 및 강사 품질 정밀 평가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31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2ECC71"/>
                </a:solidFill>
                <a:latin typeface="Malgun Gothic"/>
              </a:defRPr>
            </a:pPr>
            <a:r>
              <a:t>💡 최적 입지조건 자동 산출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빅데이터 결합으로 '에이닷 입지 AI Score' 산출하여 1순위 추천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5. 경영진 최종 결론 &amp; 비즈니스 임팩트 제언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FF4757"/>
                </a:solidFill>
                <a:latin typeface="Malgun Gothic"/>
              </a:defRPr>
            </a:pPr>
            <a:r>
              <a:t>💡 본 웹앱은 에이닷 성장의 핵심 축인 '상권 분석'의 표준 시뮬레이터입니다.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추천입지를 3개 유형(🔥초희소형/⚡세대밀집/🖤메가타겟)으로 자동 분류하여 한눈에 파악하고 전략적 진출 가능.</a:t>
            </a:r>
            <a:br/>
            <a:br/>
            <a:r>
              <a:t>• ⭐ 서울대 TOP30 및 🏛️ 4년제 대학 입지로 '학구열'과 '강사 구인 용이성'을 완벽하게 검증.</a:t>
            </a:r>
            <a:br/>
            <a:br/>
            <a:r>
              <a:t>• 향후 3개년 학원수 추이 + 아파트 매매가(구매력) + 대학 수시/수능 입결 빅데이터 고도화로 최적 입지조건을 자동 산출하여 에이닷의 전국 1위 기하급수적 성장을 견인할 것을 제언합니다.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