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914400"/>
          <a:lstStyle/>
          <a:p>
            <a:pPr algn="ctr">
              <a:defRPr sz="3600" b="1">
                <a:solidFill>
                  <a:srgbClr val="FF4757"/>
                </a:solidFill>
                <a:latin typeface="Malgun Gothic"/>
              </a:defRPr>
            </a:pPr>
            <a:r>
              <a:t>🎯 에이닷(A.dot) 신규 출점 전략 발표</a:t>
            </a:r>
          </a:p>
          <a:p>
            <a:pPr>
              <a:spcBef>
                <a:spcPts val="2000"/>
              </a:spcBef>
              <a:defRPr sz="2200">
                <a:solidFill>
                  <a:srgbClr val="FFFFFF"/>
                </a:solidFill>
                <a:latin typeface="Malgun Gothic"/>
              </a:defRPr>
            </a:pPr>
            <a:r>
              <a:t>RDB 추천입지 분석 및 강사 구인 리스크(4년제 대학) 최소화 모델</a:t>
            </a:r>
          </a:p>
          <a:p>
            <a:pPr>
              <a:spcBef>
                <a:spcPts val="4000"/>
              </a:spcBef>
              <a:defRPr sz="1400">
                <a:solidFill>
                  <a:srgbClr val="94A3B8"/>
                </a:solidFill>
                <a:latin typeface="Malgun Gothic"/>
              </a:defRPr>
            </a:pPr>
            <a:r>
              <a:t>지도 데이터 기반 3km 분석 | 블루오션 독점 입지 | 2026.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신규 출점 전략</a:t>
            </a:r>
          </a:p>
          <a:p>
            <a:pPr>
              <a:defRPr sz="2600" b="1">
                <a:solidFill>
                  <a:srgbClr val="FFFFFF"/>
                </a:solidFill>
                <a:latin typeface="Malgun Gothic"/>
              </a:defRPr>
            </a:pPr>
            <a:r>
              <a:t>1. Executive Summary (전략 핵심 요약)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2000" b="1">
                <a:solidFill>
                  <a:srgbClr val="FF4757"/>
                </a:solidFill>
                <a:latin typeface="Malgun Gothic"/>
              </a:defRPr>
            </a:pPr>
            <a:r>
              <a:t>🚫 자기잠식 100% 방지</a:t>
            </a:r>
          </a:p>
          <a:p>
            <a:pPr>
              <a:spcBef>
                <a:spcPts val="20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기존 에이닷 지점 반경 3km 이내 완전 제외 조건 적용</a:t>
            </a:r>
            <a:br/>
            <a:r>
              <a:t>신규 지점 전용 영토 및 독점 영업권 확보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2000" b="1">
                <a:solidFill>
                  <a:srgbClr val="F59E0B"/>
                </a:solidFill>
                <a:latin typeface="Malgun Gothic"/>
              </a:defRPr>
            </a:pPr>
            <a:r>
              <a:t>🎯 RDB 추천입지 집중 진출</a:t>
            </a:r>
          </a:p>
          <a:p>
            <a:pPr>
              <a:spcBef>
                <a:spcPts val="20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🔥 초희소형 / ⚡ 세대밀집 / 🖤 메가타겟 3대 모델</a:t>
            </a:r>
            <a:br/>
            <a:r>
              <a:t>경쟁 학원 희소성 및 대단지 배후 수요 검증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457200"/>
          <a:lstStyle/>
          <a:p>
            <a:pPr algn="ctr">
              <a:defRPr sz="2000" b="1">
                <a:solidFill>
                  <a:srgbClr val="6366F1"/>
                </a:solidFill>
                <a:latin typeface="Malgun Gothic"/>
              </a:defRPr>
            </a:pPr>
            <a:r>
              <a:t>🏛️ 강사 구인 리스크 최소화</a:t>
            </a:r>
          </a:p>
          <a:p>
            <a:pPr>
              <a:spcBef>
                <a:spcPts val="20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인근 4년제 대학교(🏛️) 입지 연동 분석</a:t>
            </a:r>
            <a:br/>
            <a:r>
              <a:t>명문대 대학생/대학원생 우수 강사 인력풀 지속 공급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신규 출점 전략</a:t>
            </a:r>
          </a:p>
          <a:p>
            <a:pPr>
              <a:defRPr sz="2600" b="1">
                <a:solidFill>
                  <a:srgbClr val="FFFFFF"/>
                </a:solidFill>
                <a:latin typeface="Malgun Gothic"/>
              </a:defRPr>
            </a:pPr>
            <a:r>
              <a:t>2. 🎯 RDB 추천입지 모델 (신규 출점 최우선 입지)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F4757"/>
                </a:solidFill>
                <a:latin typeface="Malgun Gothic"/>
              </a:defRPr>
            </a:pPr>
            <a:r>
              <a:t>🔥 1. 초희소형 (블루오션)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반경 3km 학원수: 50개 미만</a:t>
            </a:r>
            <a:br/>
            <a:r>
              <a:t>• 반경 3km 아파트: 1.5만 세대 이상</a:t>
            </a:r>
            <a:br/>
            <a:r>
              <a:t>• 잠정고객수 (5%): 300명 초과</a:t>
            </a:r>
            <a:br/>
            <a:r>
              <a:t>👉 경쟁 학원이 거의 없어 진출 즉시 시장 독점 가능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59E0B"/>
                </a:solidFill>
                <a:latin typeface="Malgun Gothic"/>
              </a:defRPr>
            </a:pPr>
            <a:r>
              <a:t>⚡ 2. 세대밀집 (안정성)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반경 3km 아파트: 5.0만 세대 이상</a:t>
            </a:r>
            <a:br/>
            <a:r>
              <a:t>• 반경 3km 학원수: 100개 미만</a:t>
            </a:r>
            <a:br/>
            <a:r>
              <a:t>• 잠정고객수 (5%): 400명 이상</a:t>
            </a:r>
            <a:br/>
            <a:r>
              <a:t>👉 대단지 아파트 초밀집으로 지속적인 학생 유입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6B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F6B81"/>
                </a:solidFill>
                <a:latin typeface="Malgun Gothic"/>
              </a:defRPr>
            </a:pPr>
            <a:r>
              <a:t>🖤 3. 메가타겟 (초대형 배후)</a:t>
            </a:r>
          </a:p>
          <a:p>
            <a:pPr>
              <a:spcBef>
                <a:spcPts val="16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반경 3km 잠정고객수: 700명 이상</a:t>
            </a:r>
            <a:br/>
            <a:r>
              <a:t>• 중·고등학생 총원: 14,000명 이상</a:t>
            </a:r>
            <a:br/>
            <a:r>
              <a:t>• 검빨(Black+Red) 전용 테마 적용</a:t>
            </a:r>
            <a:br/>
            <a:r>
              <a:t>👉 압도적 잠재 인구를 바탕으로 한 대형 거점 입지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신규 출점 전략</a:t>
            </a:r>
          </a:p>
          <a:p>
            <a:pPr>
              <a:defRPr sz="2600" b="1">
                <a:solidFill>
                  <a:srgbClr val="FFFFFF"/>
                </a:solidFill>
                <a:latin typeface="Malgun Gothic"/>
              </a:defRPr>
            </a:pPr>
            <a:r>
              <a:t>3. 🏛️ 핵심 지표: 강사 구인 리스크(Instructor Recruitment Risk) 최소화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6366F1"/>
                </a:solidFill>
                <a:latin typeface="Malgun Gothic"/>
              </a:defRPr>
            </a:pPr>
            <a:r>
              <a:t>💡 강사 구인 리스크 논리 정립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기존 '이직 리스크' ➔ '강사 구인 리스크'로 지표 전환</a:t>
            </a:r>
            <a:br/>
            <a:br/>
            <a:r>
              <a:t>• 🏛️ 4년제 대학교 근접성의 가치:</a:t>
            </a:r>
            <a:br/>
            <a:r>
              <a:t>  - 인근에 4년제 대학교가 입지할 경우 명문 대학생 및 대학원생 파트타임/전임 강사 인력 수급이 매우 용이함.</a:t>
            </a:r>
            <a:br/>
            <a:br/>
            <a:r>
              <a:t>  - 학원 개원 초기 가장 큰 병목인 '우수 강사 구인' 리스크를 획기적으로 낮춤.</a:t>
            </a:r>
            <a:br/>
            <a:br/>
            <a:r>
              <a:t>  - 우수한 강사진 확보로 수업 질 향상 및 학원 신뢰도 상승.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F59E0B"/>
                </a:solidFill>
                <a:latin typeface="Malgun Gothic"/>
              </a:defRPr>
            </a:pPr>
            <a:r>
              <a:t>📊 구인 리스크 최소화의 3대 효과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1️⃣ 빠른 강사 채용 (Time-to-Hire 감소):</a:t>
            </a:r>
            <a:br/>
            <a:r>
              <a:t>    대학생 강사 인력풀이 인근에 상시 형성되어 강사 공백 즉시 메움.</a:t>
            </a:r>
            <a:br/>
            <a:br/>
            <a:r>
              <a:t>2️⃣ 강의 학업 수준 우수성 확보:</a:t>
            </a:r>
            <a:br/>
            <a:r>
              <a:t>    4년제 주요 대학 인재 수급으로 영어/학습 코칭 질적 우위 점유.</a:t>
            </a:r>
            <a:br/>
            <a:br/>
            <a:r>
              <a:t>3️⃣ 학원 운영 지속가능성 극대화:</a:t>
            </a:r>
            <a:br/>
            <a:r>
              <a:t>    강사 수급 난항으로 인한 개원 지연 및 휴원 리스크 원천 차단.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신규 출점 전략</a:t>
            </a:r>
          </a:p>
          <a:p>
            <a:pPr>
              <a:defRPr sz="2600" b="1">
                <a:solidFill>
                  <a:srgbClr val="FFFFFF"/>
                </a:solidFill>
                <a:latin typeface="Malgun Gothic"/>
              </a:defRPr>
            </a:pPr>
            <a:r>
              <a:t>4. 📊 데이터 기반 4중 출점 평가 프로세스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0"/>
          <a:lstStyle/>
          <a:p>
            <a:pPr algn="ctr">
              <a:defRPr sz="1400" b="1">
                <a:solidFill>
                  <a:srgbClr val="FF4757"/>
                </a:solidFill>
                <a:latin typeface="Malgun Gothic"/>
              </a:defRPr>
            </a:pPr>
            <a:r>
              <a:t>STEP 1</a:t>
            </a:r>
          </a:p>
          <a:p>
            <a:pPr>
              <a:spcBef>
                <a:spcPts val="1000"/>
              </a:spcBef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🎯 RDB 추천입지 추출</a:t>
            </a:r>
          </a:p>
          <a:p>
            <a:pPr>
              <a:spcBef>
                <a:spcPts val="1600"/>
              </a:spcBef>
              <a:defRPr sz="1300">
                <a:solidFill>
                  <a:srgbClr val="94A3B8"/>
                </a:solidFill>
                <a:latin typeface="Malgun Gothic"/>
              </a:defRPr>
            </a:pPr>
            <a:r>
              <a:t>기존 지점 3km 이격 + 3대 유형 자동 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011680"/>
            <a:ext cx="2468880" cy="38404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0"/>
          <a:lstStyle/>
          <a:p>
            <a:pPr algn="ctr">
              <a:defRPr sz="1400" b="1">
                <a:solidFill>
                  <a:srgbClr val="6366F1"/>
                </a:solidFill>
                <a:latin typeface="Malgun Gothic"/>
              </a:defRPr>
            </a:pPr>
            <a:r>
              <a:t>STEP 2</a:t>
            </a:r>
          </a:p>
          <a:p>
            <a:pPr>
              <a:spcBef>
                <a:spcPts val="1000"/>
              </a:spcBef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🏛️ 강사 구인 평가</a:t>
            </a:r>
          </a:p>
          <a:p>
            <a:pPr>
              <a:spcBef>
                <a:spcPts val="1600"/>
              </a:spcBef>
              <a:defRPr sz="1300">
                <a:solidFill>
                  <a:srgbClr val="94A3B8"/>
                </a:solidFill>
                <a:latin typeface="Malgun Gothic"/>
              </a:defRPr>
            </a:pPr>
            <a:r>
              <a:t>인근 4년제 대학교 근접성 및 인력풀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2468880" cy="38404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0"/>
          <a:lstStyle/>
          <a:p>
            <a:pPr algn="ctr">
              <a:defRPr sz="1400" b="1">
                <a:solidFill>
                  <a:srgbClr val="F59E0B"/>
                </a:solidFill>
                <a:latin typeface="Malgun Gothic"/>
              </a:defRPr>
            </a:pPr>
            <a:r>
              <a:t>STEP 3</a:t>
            </a:r>
          </a:p>
          <a:p>
            <a:pPr>
              <a:spcBef>
                <a:spcPts val="1000"/>
              </a:spcBef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🏫 학생수 추이 분석</a:t>
            </a:r>
          </a:p>
          <a:p>
            <a:pPr>
              <a:spcBef>
                <a:spcPts val="1600"/>
              </a:spcBef>
              <a:defRPr sz="1300">
                <a:solidFill>
                  <a:srgbClr val="94A3B8"/>
                </a:solidFill>
                <a:latin typeface="Malgun Gothic"/>
              </a:defRPr>
            </a:pPr>
            <a:r>
              <a:t>2024~2026년 3개년 학교 학생수 모멘텀 검증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2011680"/>
            <a:ext cx="2468880" cy="38404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0"/>
          <a:lstStyle/>
          <a:p>
            <a:pPr algn="ctr">
              <a:defRPr sz="1400" b="1">
                <a:solidFill>
                  <a:srgbClr val="2ECC71"/>
                </a:solidFill>
                <a:latin typeface="Malgun Gothic"/>
              </a:defRPr>
            </a:pPr>
            <a:r>
              <a:t>STEP 4</a:t>
            </a:r>
          </a:p>
          <a:p>
            <a:pPr>
              <a:spcBef>
                <a:spcPts val="1000"/>
              </a:spcBef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🏢 배후 수요 확정</a:t>
            </a:r>
          </a:p>
          <a:p>
            <a:pPr>
              <a:spcBef>
                <a:spcPts val="1600"/>
              </a:spcBef>
              <a:defRPr sz="1300">
                <a:solidFill>
                  <a:srgbClr val="94A3B8"/>
                </a:solidFill>
                <a:latin typeface="Malgun Gothic"/>
              </a:defRPr>
            </a:pPr>
            <a:r>
              <a:t>반경 3km 아파트 세대수 및 경쟁 학원가 밀집도 측정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