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822960"/>
          <a:lstStyle/>
          <a:p>
            <a:pPr algn="ctr">
              <a:defRPr sz="3200" b="1">
                <a:solidFill>
                  <a:srgbClr val="FF4757"/>
                </a:solidFill>
                <a:latin typeface="Malgun Gothic"/>
              </a:defRPr>
            </a:pPr>
            <a:r>
              <a:t>🎯 학원 성장의 3대 필수 조건과 데이터 상권 분석</a:t>
            </a:r>
          </a:p>
          <a:p>
            <a:pPr>
              <a:spcBef>
                <a:spcPts val="2000"/>
              </a:spcBef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콘텐츠 + 우수 강사진 + 스마트 상권 분석 웹앱 (서울대 TOP30 &amp; 4년제 대학)</a:t>
            </a:r>
          </a:p>
          <a:p>
            <a:pPr>
              <a:spcBef>
                <a:spcPts val="4500"/>
              </a:spcBef>
              <a:defRPr sz="1400">
                <a:solidFill>
                  <a:srgbClr val="94A3B8"/>
                </a:solidFill>
                <a:latin typeface="Malgun Gothic"/>
              </a:defRPr>
            </a:pPr>
            <a:r>
              <a:t>에이닷 영어학원 지속 성장 &amp; 신규 출점 시뮬레이션 시스템 보고서 | 2026.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757"/>
                </a:solidFill>
                <a:latin typeface="Malgun Gothic"/>
              </a:defRPr>
            </a:pPr>
            <a:r>
              <a:t>에이닷(A.DOT) 영어학원 성장의 3대 필수 조건</a:t>
            </a:r>
          </a:p>
          <a:p>
            <a:pPr>
              <a:defRPr sz="2500" b="1">
                <a:solidFill>
                  <a:srgbClr val="FFFFFF"/>
                </a:solidFill>
                <a:latin typeface="Malgun Gothic"/>
              </a:defRPr>
            </a:pPr>
            <a:r>
              <a:t>1. 학원 성장의 3대 필수 조건 (3 Pillars of Growth)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800" b="1">
                <a:solidFill>
                  <a:srgbClr val="F59E0B"/>
                </a:solidFill>
                <a:latin typeface="Malgun Gothic"/>
              </a:defRPr>
            </a:pPr>
            <a:r>
              <a:t>📚 1. 콘텐츠</a:t>
            </a:r>
          </a:p>
          <a:p>
            <a:pPr>
              <a:spcBef>
                <a:spcPts val="1600"/>
              </a:spcBef>
              <a:defRPr sz="1400">
                <a:solidFill>
                  <a:srgbClr val="FFFFFF"/>
                </a:solidFill>
                <a:latin typeface="Malgun Gothic"/>
              </a:defRPr>
            </a:pPr>
            <a:r>
              <a:t>• 커리큘럼 및 교재</a:t>
            </a:r>
            <a:br/>
            <a:r>
              <a:t>• 자체 학습 시스템</a:t>
            </a:r>
            <a:br/>
            <a:r>
              <a:t>• 1:1 맞춤형 코칭 프로그램</a:t>
            </a:r>
            <a:br/>
            <a:br/>
            <a:r>
              <a:t>👉 에이닷 독자 브랜드 가치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4592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800" b="1">
                <a:solidFill>
                  <a:srgbClr val="6366F1"/>
                </a:solidFill>
                <a:latin typeface="Malgun Gothic"/>
              </a:defRPr>
            </a:pPr>
            <a:r>
              <a:t>🎓 2. 우수 강사진</a:t>
            </a:r>
          </a:p>
          <a:p>
            <a:pPr>
              <a:spcBef>
                <a:spcPts val="1600"/>
              </a:spcBef>
              <a:defRPr sz="1400">
                <a:solidFill>
                  <a:srgbClr val="FFFFFF"/>
                </a:solidFill>
                <a:latin typeface="Malgun Gothic"/>
              </a:defRPr>
            </a:pPr>
            <a:r>
              <a:t>• 학생 지도 및 강의력</a:t>
            </a:r>
            <a:br/>
            <a:r>
              <a:t>• 동기부여 및 학습 관리</a:t>
            </a:r>
            <a:br/>
            <a:r>
              <a:t>• 4년제 대학 인재풀 연동</a:t>
            </a:r>
            <a:br/>
            <a:br/>
            <a:r>
              <a:t>👉 성과 창출의 핵심 동력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645920"/>
            <a:ext cx="33832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/>
          <a:lstStyle/>
          <a:p>
            <a:pPr algn="ctr">
              <a:defRPr sz="1800" b="1">
                <a:solidFill>
                  <a:srgbClr val="FF4757"/>
                </a:solidFill>
                <a:latin typeface="Malgun Gothic"/>
              </a:defRPr>
            </a:pPr>
            <a:r>
              <a:t>🗺️ 3. 상권 분석</a:t>
            </a:r>
          </a:p>
          <a:p>
            <a:pPr>
              <a:spcBef>
                <a:spcPts val="1600"/>
              </a:spcBef>
              <a:defRPr sz="1400">
                <a:solidFill>
                  <a:srgbClr val="FFFFFF"/>
                </a:solidFill>
                <a:latin typeface="Malgun Gothic"/>
              </a:defRPr>
            </a:pPr>
            <a:r>
              <a:t>• [핵심! 이 웹앱이 필요한 이유]</a:t>
            </a:r>
            <a:br/>
            <a:r>
              <a:t>• 수강생/잠재고객/학원수 정밀 분석</a:t>
            </a:r>
            <a:br/>
            <a:r>
              <a:t>• 서울대 TOP30 및 학구열 판정</a:t>
            </a:r>
            <a:br/>
            <a:br/>
            <a:r>
              <a:t>👉 실패 없는 출점의 완성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757"/>
                </a:solidFill>
                <a:latin typeface="Malgun Gothic"/>
              </a:defRPr>
            </a:pPr>
            <a:r>
              <a:t>에이닷(A.DOT) 영어학원 성장의 3대 필수 조건</a:t>
            </a:r>
          </a:p>
          <a:p>
            <a:pPr>
              <a:defRPr sz="2500" b="1">
                <a:solidFill>
                  <a:srgbClr val="FFFFFF"/>
                </a:solidFill>
                <a:latin typeface="Malgun Gothic"/>
              </a:defRPr>
            </a:pPr>
            <a:r>
              <a:t>2. 상권 분석을 완벽하게 수행하는 4대 데이터 요소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FF4757"/>
                </a:solidFill>
                <a:latin typeface="Malgun Gothic"/>
              </a:defRPr>
            </a:pPr>
            <a:r>
              <a:t>🏫 1. 학생수 추이</a:t>
            </a:r>
          </a:p>
          <a:p>
            <a:pPr>
              <a:spcBef>
                <a:spcPts val="10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2024~2026년 3개년 학교별 총원 및 학년별 유입/유출 추이 정밀 시각화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45920"/>
            <a:ext cx="512064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F59E0B"/>
                </a:solidFill>
                <a:latin typeface="Malgun Gothic"/>
              </a:defRPr>
            </a:pPr>
            <a:r>
              <a:t>🎯 2. 잠재 고객수</a:t>
            </a:r>
          </a:p>
          <a:p>
            <a:pPr>
              <a:spcBef>
                <a:spcPts val="10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반경 3km 중·고등학생 총원의 5%를 잠정 고객수로 자동 계산 (유효 타겟)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2ECC71"/>
                </a:solidFill>
                <a:latin typeface="Malgun Gothic"/>
              </a:defRPr>
            </a:pPr>
            <a:r>
              <a:t>🏢 3. 아파트 세대수</a:t>
            </a:r>
          </a:p>
          <a:p>
            <a:pPr>
              <a:spcBef>
                <a:spcPts val="10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반경 3km 내 대단지 주거 타운 세대수를 집계하여 탄탄한 배후 수요 측정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31920"/>
            <a:ext cx="5120640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6366F1"/>
                </a:solidFill>
                <a:latin typeface="Malgun Gothic"/>
              </a:defRPr>
            </a:pPr>
            <a:r>
              <a:t>📚 4. 학원수 (밀집도)</a:t>
            </a:r>
          </a:p>
          <a:p>
            <a:pPr>
              <a:spcBef>
                <a:spcPts val="10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지번별 경쟁 학원수 분포 분석으로 독점적 초희소형(50개 미만) 시장 발굴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757"/>
                </a:solidFill>
                <a:latin typeface="Malgun Gothic"/>
              </a:defRPr>
            </a:pPr>
            <a:r>
              <a:t>에이닷(A.DOT) 영어학원 성장의 3대 필수 조건</a:t>
            </a:r>
          </a:p>
          <a:p>
            <a:pPr>
              <a:defRPr sz="2500" b="1">
                <a:solidFill>
                  <a:srgbClr val="FFFFFF"/>
                </a:solidFill>
                <a:latin typeface="Malgun Gothic"/>
              </a:defRPr>
            </a:pPr>
            <a:r>
              <a:t>3. ⭐ 서울대 입결 TOP 30 고등학교 - 직관적 학구열 파악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sz="2000" b="1">
                <a:solidFill>
                  <a:srgbClr val="F59E0B"/>
                </a:solidFill>
                <a:latin typeface="Malgun Gothic"/>
              </a:defRPr>
            </a:pPr>
            <a:r>
              <a:t>⭐ 서울대 TOP 30 시각화의 의의</a:t>
            </a:r>
          </a:p>
          <a:p>
            <a:pPr>
              <a:spcBef>
                <a:spcPts val="14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• 고등학교 중 '서울대 합격자수 상위 30개교' 마커 표시</a:t>
            </a:r>
            <a:br/>
            <a:br/>
            <a:r>
              <a:t>• 지역 학구열의 직관적 파악:</a:t>
            </a:r>
            <a:br/>
            <a:r>
              <a:t>  - 지도에서 해당 지역에 TOP 30 고등학교가 위치해 있는지 한눈에 즉시 확인.</a:t>
            </a:r>
            <a:br/>
            <a:br/>
            <a:r>
              <a:t>  - 학구열이 높은 지역일수록 학부모의 교육 투자 성향이 강하고 고난도 영어 코칭(에이닷) 수요가 폭발적임.</a:t>
            </a:r>
            <a:br/>
            <a:br/>
            <a:r>
              <a:t>  - 프리미엄 입지 판정의 단초 역할 수행.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sz="2000" b="1">
                <a:solidFill>
                  <a:srgbClr val="FF4757"/>
                </a:solidFill>
                <a:latin typeface="Malgun Gothic"/>
              </a:defRPr>
            </a:pPr>
            <a:r>
              <a:t>📈 학구열과 에이닷 매출의 상관관계</a:t>
            </a:r>
          </a:p>
          <a:p>
            <a:pPr>
              <a:spcBef>
                <a:spcPts val="1400"/>
              </a:spcBef>
              <a:defRPr sz="1350">
                <a:solidFill>
                  <a:srgbClr val="FFFFFF"/>
                </a:solidFill>
                <a:latin typeface="Malgun Gothic"/>
              </a:defRPr>
            </a:pPr>
            <a:r>
              <a:t>1️⃣ 고학구열 지역의 수강생 LTV (평생가치) 증대:</a:t>
            </a:r>
            <a:br/>
            <a:r>
              <a:t>    내신 및 수능 대세를 이끄는 명문고 배후지로 장기 수강률 확보.</a:t>
            </a:r>
            <a:br/>
            <a:br/>
            <a:r>
              <a:t>2️⃣ 마케팅 효율 및 입소문 확산 가속:</a:t>
            </a:r>
            <a:br/>
            <a:r>
              <a:t>    학부모 커뮤니티가 활성화되어 입소문을 통한 성과 전파가 매우 빠름.</a:t>
            </a:r>
            <a:br/>
            <a:br/>
            <a:r>
              <a:t>3️⃣ 에이닷 브랜드 고급화 시너지:</a:t>
            </a:r>
            <a:br/>
            <a:r>
              <a:t>    명문고 상권 입점으로 지역 내 대표 영어학원으로 포지셔닝.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757"/>
                </a:solidFill>
                <a:latin typeface="Malgun Gothic"/>
              </a:defRPr>
            </a:pPr>
            <a:r>
              <a:t>에이닷(A.DOT) 영어학원 성장의 3대 필수 조건</a:t>
            </a:r>
          </a:p>
          <a:p>
            <a:pPr>
              <a:defRPr sz="2500" b="1">
                <a:solidFill>
                  <a:srgbClr val="FFFFFF"/>
                </a:solidFill>
                <a:latin typeface="Malgun Gothic"/>
              </a:defRPr>
            </a:pPr>
            <a:r>
              <a:t>4. 🏛️ 4년제 대학교의 2대 가치: 학구열 판단 + 강사 수급 용이성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sz="2000" b="1">
                <a:solidFill>
                  <a:srgbClr val="6366F1"/>
                </a:solidFill>
                <a:latin typeface="Malgun Gothic"/>
              </a:defRPr>
            </a:pPr>
            <a:r>
              <a:t>🎓 1. 지역 학구열 지표로서의 가치</a:t>
            </a:r>
          </a:p>
          <a:p>
            <a:pPr>
              <a:spcBef>
                <a:spcPts val="1600"/>
              </a:spcBef>
              <a:defRPr sz="1400">
                <a:solidFill>
                  <a:srgbClr val="FFFFFF"/>
                </a:solidFill>
                <a:latin typeface="Malgun Gothic"/>
              </a:defRPr>
            </a:pPr>
            <a:r>
              <a:t>• 4년제 대학교 입지 지역의 문화적 특징:</a:t>
            </a:r>
            <a:br/>
            <a:r>
              <a:t>  - 지적 분위기와 고학력 인구 비중이 높아 지역 전체의 학구열 수준 파악 가능.</a:t>
            </a:r>
            <a:br/>
            <a:br/>
            <a:r>
              <a:t>  - 학부모들의 대학 입시 관심도가 높아 고급 인강/학원 코칭 수요가 지속적으로 높음.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sz="2000" b="1">
                <a:solidFill>
                  <a:srgbClr val="2ECC71"/>
                </a:solidFill>
                <a:latin typeface="Malgun Gothic"/>
              </a:defRPr>
            </a:pPr>
            <a:r>
              <a:t>🤝 2. 강사 구인 용이성 (수급 원활도)</a:t>
            </a:r>
          </a:p>
          <a:p>
            <a:pPr>
              <a:spcBef>
                <a:spcPts val="1600"/>
              </a:spcBef>
              <a:defRPr sz="1400">
                <a:solidFill>
                  <a:srgbClr val="FFFFFF"/>
                </a:solidFill>
                <a:latin typeface="Malgun Gothic"/>
              </a:defRPr>
            </a:pPr>
            <a:r>
              <a:t>• 우수한 강사 수급 리스크 원천 차단:</a:t>
            </a:r>
            <a:br/>
            <a:r>
              <a:t>  - 명문 대학생 및 대학원생 파트타임/전임 강사를 가까운 인근에서 수월하게 구인.</a:t>
            </a:r>
            <a:br/>
            <a:br/>
            <a:r>
              <a:t>  - 강사 수급 난항으로 인한 개원 지연 및 휴원 위험을 방지하여 에이닷 네트워크 성장의 병목 해결.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4757"/>
                </a:solidFill>
                <a:latin typeface="Malgun Gothic"/>
              </a:defRPr>
            </a:pPr>
            <a:r>
              <a:t>에이닷(A.DOT) 영어학원 성장의 3대 필수 조건</a:t>
            </a:r>
          </a:p>
          <a:p>
            <a:pPr>
              <a:defRPr sz="2500" b="1">
                <a:solidFill>
                  <a:srgbClr val="FFFFFF"/>
                </a:solidFill>
                <a:latin typeface="Malgun Gothic"/>
              </a:defRPr>
            </a:pPr>
            <a:r>
              <a:t>5. 🎯 RDB 추천입지 모델 &amp; 경영진 최종 결론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4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FF4757"/>
                </a:solidFill>
                <a:latin typeface="Malgun Gothic"/>
              </a:defRPr>
            </a:pPr>
            <a:r>
              <a:t>💡 본 웹앱은 에이닷 성장의 3대 축 중 '상권 분석'의 최첨단 표준 시뮬레이터입니다.</a:t>
            </a:r>
          </a:p>
          <a:p>
            <a:pPr>
              <a:spcBef>
                <a:spcPts val="1600"/>
              </a:spcBef>
              <a:defRPr sz="1450">
                <a:solidFill>
                  <a:srgbClr val="FFFFFF"/>
                </a:solidFill>
                <a:latin typeface="Malgun Gothic"/>
              </a:defRPr>
            </a:pPr>
            <a:r>
              <a:t>• 콘텐츠와 우수 강사진이 준비되어 있다면, 마지막 성공 열쇠는 '상권 분석'입니다.</a:t>
            </a:r>
            <a:br/>
            <a:br/>
            <a:r>
              <a:t>• 본 웹앱은 수강생/잠재고객/세대수/학원수 분석은 물론, ⭐ 서울대 TOP30과 🏛️ 4년제 대학교 데이터로 '학구열'과 '강사 구인 용이성'까지 직관적으로 판정합니다.</a:t>
            </a:r>
            <a:br/>
            <a:br/>
            <a:r>
              <a:t>• 기존 지점 3km 이격으로 자기잠식을 막고 독점적 🔥 초희소형(학원&lt;50개) 지역을 우선 진출하여 실패 없는 전국 1위 성장을 견인할 것을 제언합니다.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